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8" r:id="rId3"/>
    <p:sldId id="257" r:id="rId4"/>
    <p:sldId id="259" r:id="rId5"/>
    <p:sldId id="262" r:id="rId6"/>
    <p:sldId id="263" r:id="rId7"/>
    <p:sldId id="264" r:id="rId8"/>
    <p:sldId id="265" r:id="rId9"/>
    <p:sldId id="270" r:id="rId10"/>
    <p:sldId id="266" r:id="rId11"/>
    <p:sldId id="271" r:id="rId12"/>
    <p:sldId id="272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CE72A-EDE4-D225-97DA-99448CD44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04A8E-8419-4B69-3510-77EBC49D5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E3935-84FC-600D-8335-5F6B56667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C59F8-A561-41C1-A700-6EBC80F23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0486E-3265-59B6-3311-FB7D68AC0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36720-4CB2-950B-B0ED-292E7A0C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E42F-1C52-4EA1-ACE8-9D3197DA9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8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5803F-8D1C-9FF4-6097-07EC4063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2E034-948C-3447-47DB-F5F287CCF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03892-B5B7-51EB-3DFB-0E83CAA99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C59F8-A561-41C1-A700-6EBC80F23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7E416-0EDE-F3E3-76CB-AE95D8CE0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8E9BC-3578-2457-F906-7A0C85AA9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E42F-1C52-4EA1-ACE8-9D3197DA9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97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2C1F0-C928-9CE4-2777-C711289F9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8EF90-6D8D-9181-ED4A-092D90B2A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64785-95D7-816C-62E9-DB43CB45D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C59F8-A561-41C1-A700-6EBC80F23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53535-3A2C-E65E-5396-E9AA27241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A1636-F8B4-4599-DE94-64FA5FB37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E42F-1C52-4EA1-ACE8-9D3197DA9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9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48FB-3190-6124-CC27-3BB5A9260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C0A3E-E03C-CA71-3F3E-0780F3C8B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9186A-1C4E-8CDE-B12A-B06A11076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67173-DBFD-2231-4E91-27473FEB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C59F8-A561-41C1-A700-6EBC80F23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81585-EDB1-8EB2-8070-57C2B83EA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3E370-8A56-649F-6A2B-097379964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E42F-1C52-4EA1-ACE8-9D3197DA9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25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52D0-21B3-57F0-A0CD-166242224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0EBF1-E32D-D102-E13D-D7FF81382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29329-B09D-B0C5-CB09-F9BD93BFF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8C1D5-610E-1057-2F91-7E8071012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261B39-1B2C-991F-F64E-489EF8EF57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33766F-2D67-2999-D23F-ABEACA177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C59F8-A561-41C1-A700-6EBC80F23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75E1FB-4EB4-F896-0BE0-EC3728302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7C7B78-D78E-DEA5-6541-3127BFB0B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E42F-1C52-4EA1-ACE8-9D3197DA9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1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9085-36AE-C9CD-77F3-2264A154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C53E2F-A843-3556-16DA-4D21E630A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C59F8-A561-41C1-A700-6EBC80F23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3722D8-C814-BD8C-6618-33C65C85D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C10E4-DD25-043A-21C6-BCC4115E2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E42F-1C52-4EA1-ACE8-9D3197DA9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155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2BEE4-2094-1C6D-C7DC-78F8841BF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C59F8-A561-41C1-A700-6EBC80F23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F977B-7F21-8A9D-4FF2-C47553022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24B4C-A9D1-73E1-E4B4-04AA1E76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E42F-1C52-4EA1-ACE8-9D3197DA9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48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5737-2F22-B96D-08C4-5A01E6C08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3BCD6-3ADC-2C4E-58C7-8C8BBE5C4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6B2B88-3D75-F088-F7C1-318C9B52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8A9BC-F6A7-9BE3-BBAC-0E812D23D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C59F8-A561-41C1-A700-6EBC80F23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81EF0-609E-EF48-2330-648D6D0CE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4FD78-040A-B2C6-E05D-440AEC856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E42F-1C52-4EA1-ACE8-9D3197DA9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53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52CE8-6BF4-BDF9-576A-F8F497ED3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B44E79-0D68-A69F-F617-AE26F7356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C15B9-C501-E422-A62C-0FA1D3C4C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AD4E8-9C49-40B9-82C6-B5C564D93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C59F8-A561-41C1-A700-6EBC80F23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2480C-69BA-E1AB-365A-B6A39100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024CA-2C24-8F4B-97EE-10F75DA3F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E42F-1C52-4EA1-ACE8-9D3197DA9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15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7E852-57B8-2DDC-7A66-5C7AAA713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AC430-5954-776B-93FE-89D6BC69F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39E2D-BBB3-92C2-6794-241CBD1D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C59F8-A561-41C1-A700-6EBC80F23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66CE5-72EE-500D-03F9-F598F6C36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AAB8D-50E2-112B-D493-83D010DFB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E42F-1C52-4EA1-ACE8-9D3197DA9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11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74CE5F-CCFF-17C5-CE55-BF6145D1B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22159-7D01-0A30-1A45-33D937EB6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40BE0-5689-86D5-298A-03DCB7D2D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C59F8-A561-41C1-A700-6EBC80F23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2D8E4-F01C-5351-64FF-9F8E99E47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F2608-44AB-DF4C-1A37-368C7DA9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DE42F-1C52-4EA1-ACE8-9D3197DA9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2B2CB0-16A2-7883-1996-E8A366573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E5B51-D485-DA8E-29BE-00574D187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4C9BE-8483-5546-00BD-9202452B4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BC59F8-A561-41C1-A700-6EBC80F235C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2717B-BF1C-16E0-C555-C0AED9D1B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EDC67-1E3E-5F1B-C8A7-2838AB47F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BDE42F-1C52-4EA1-ACE8-9D3197DA9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18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ACB1-A85D-1E16-F49E-A4CE7BEFAB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Computed Tomography</a:t>
            </a:r>
            <a:br>
              <a:rPr lang="en-US"/>
            </a:br>
            <a:r>
              <a:rPr lang="en-US"/>
              <a:t>(CT) scan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8D3-C0A2-7305-85D3-486BD9AA22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Tarun(IMT2022034)</a:t>
            </a:r>
          </a:p>
          <a:p>
            <a:r>
              <a:rPr lang="en-US"/>
              <a:t>Tahir(IMT2022100)</a:t>
            </a:r>
          </a:p>
          <a:p>
            <a:r>
              <a:rPr lang="en-US"/>
              <a:t>Chaitanya(IMT2022545)</a:t>
            </a:r>
          </a:p>
          <a:p>
            <a:r>
              <a:rPr lang="en-US"/>
              <a:t>Karthikeyan(IMT2022569)</a:t>
            </a:r>
          </a:p>
        </p:txBody>
      </p:sp>
    </p:spTree>
    <p:extLst>
      <p:ext uri="{BB962C8B-B14F-4D97-AF65-F5344CB8AC3E}">
        <p14:creationId xmlns:p14="http://schemas.microsoft.com/office/powerpoint/2010/main" val="1748232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E766F-5125-83D6-00E6-E3FF886D9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F5157-168E-E092-D532-F5E09FC4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298174"/>
            <a:ext cx="4090022" cy="791155"/>
          </a:xfrm>
        </p:spPr>
        <p:txBody>
          <a:bodyPr/>
          <a:lstStyle/>
          <a:p>
            <a:r>
              <a:rPr lang="en-US"/>
              <a:t>Radiology</a:t>
            </a:r>
          </a:p>
        </p:txBody>
      </p:sp>
      <p:pic>
        <p:nvPicPr>
          <p:cNvPr id="3074" name="Picture 2" descr="Normal chest x-ray: Anatomy tutorial ...">
            <a:extLst>
              <a:ext uri="{FF2B5EF4-FFF2-40B4-BE49-F238E27FC236}">
                <a16:creationId xmlns:a16="http://schemas.microsoft.com/office/drawing/2014/main" id="{835E9AEE-C1E8-ED59-6C5F-0254E37E2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677" y="1156915"/>
            <a:ext cx="1796995" cy="1796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hest CT Scan">
            <a:extLst>
              <a:ext uri="{FF2B5EF4-FFF2-40B4-BE49-F238E27FC236}">
                <a16:creationId xmlns:a16="http://schemas.microsoft.com/office/drawing/2014/main" id="{75145683-AFA9-CF3D-F4F4-B78E0CAB0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729" y="1156915"/>
            <a:ext cx="1933348" cy="1729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Normal Magnetic Resonance Imaging of the Thorax | Radiology Key">
            <a:extLst>
              <a:ext uri="{FF2B5EF4-FFF2-40B4-BE49-F238E27FC236}">
                <a16:creationId xmlns:a16="http://schemas.microsoft.com/office/drawing/2014/main" id="{9C048D3D-CC2A-0E66-2D2B-698207A06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677" y="4262145"/>
            <a:ext cx="1858466" cy="1622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Role of ultrasound in chest imaging">
            <a:extLst>
              <a:ext uri="{FF2B5EF4-FFF2-40B4-BE49-F238E27FC236}">
                <a16:creationId xmlns:a16="http://schemas.microsoft.com/office/drawing/2014/main" id="{854103A8-F3C6-110D-211F-6132C8FA1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588" y="4312424"/>
            <a:ext cx="1861630" cy="1523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0C2C67-2F3E-379F-EF5E-C86CDACA510A}"/>
              </a:ext>
            </a:extLst>
          </p:cNvPr>
          <p:cNvSpPr txBox="1"/>
          <p:nvPr/>
        </p:nvSpPr>
        <p:spPr>
          <a:xfrm>
            <a:off x="3888187" y="3054029"/>
            <a:ext cx="89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X-ray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43B33-4050-9C4A-B307-E014514A39FC}"/>
              </a:ext>
            </a:extLst>
          </p:cNvPr>
          <p:cNvSpPr txBox="1"/>
          <p:nvPr/>
        </p:nvSpPr>
        <p:spPr>
          <a:xfrm>
            <a:off x="7683388" y="2999098"/>
            <a:ext cx="998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CT Scan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62D99-6EC0-5FF2-EC02-B8919AD33B88}"/>
              </a:ext>
            </a:extLst>
          </p:cNvPr>
          <p:cNvSpPr txBox="1"/>
          <p:nvPr/>
        </p:nvSpPr>
        <p:spPr>
          <a:xfrm>
            <a:off x="3904083" y="5955527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MRI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899F6E-F18F-DE45-EA58-E0EE1B40B19A}"/>
              </a:ext>
            </a:extLst>
          </p:cNvPr>
          <p:cNvSpPr txBox="1"/>
          <p:nvPr/>
        </p:nvSpPr>
        <p:spPr>
          <a:xfrm>
            <a:off x="7503595" y="5955527"/>
            <a:ext cx="135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Ultra Sound</a:t>
            </a:r>
          </a:p>
        </p:txBody>
      </p:sp>
    </p:spTree>
    <p:extLst>
      <p:ext uri="{BB962C8B-B14F-4D97-AF65-F5344CB8AC3E}">
        <p14:creationId xmlns:p14="http://schemas.microsoft.com/office/powerpoint/2010/main" val="1004032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FEC2C-1D78-D84F-75FE-1470BB211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6451558" cy="632129"/>
          </a:xfrm>
        </p:spPr>
        <p:txBody>
          <a:bodyPr/>
          <a:lstStyle/>
          <a:p>
            <a:r>
              <a:rPr lang="en-US"/>
              <a:t>Basics Of X-Ray</a:t>
            </a:r>
          </a:p>
        </p:txBody>
      </p:sp>
      <p:pic>
        <p:nvPicPr>
          <p:cNvPr id="6" name="Picture Placeholder 5" descr="Diagram of a diagram of a glass tube&#10;&#10;AI-generated content may be incorrect.">
            <a:extLst>
              <a:ext uri="{FF2B5EF4-FFF2-40B4-BE49-F238E27FC236}">
                <a16:creationId xmlns:a16="http://schemas.microsoft.com/office/drawing/2014/main" id="{68975FF6-C665-A0C3-8E3F-6CCC8351476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8" r="7498"/>
          <a:stretch>
            <a:fillRect/>
          </a:stretch>
        </p:blipFill>
        <p:spPr>
          <a:xfrm>
            <a:off x="7465213" y="1518699"/>
            <a:ext cx="3945558" cy="311544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50A50-B70C-B2F4-55EA-93995E173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18699"/>
            <a:ext cx="6451558" cy="4350289"/>
          </a:xfrm>
        </p:spPr>
        <p:txBody>
          <a:bodyPr>
            <a:normAutofit/>
          </a:bodyPr>
          <a:lstStyle/>
          <a:p>
            <a:r>
              <a:rPr lang="en-US" sz="2400"/>
              <a:t>X-ray Generation</a:t>
            </a:r>
          </a:p>
          <a:p>
            <a:r>
              <a:rPr lang="en-US" sz="1700"/>
              <a:t>When electrons strike the target:</a:t>
            </a:r>
          </a:p>
          <a:p>
            <a:pPr lvl="1"/>
            <a:r>
              <a:rPr lang="en-US" sz="1700" b="1"/>
              <a:t>Bremsstrahlung radiation</a:t>
            </a:r>
            <a:r>
              <a:rPr lang="en-US" sz="1700"/>
              <a:t>: continuous X-ray spectrum, due to deceleration of electrons in the Coulomb field of tungsten nuclei.</a:t>
            </a:r>
          </a:p>
          <a:p>
            <a:pPr lvl="1"/>
            <a:r>
              <a:rPr lang="en-US" sz="1700" b="1"/>
              <a:t>Characteristic radiation</a:t>
            </a:r>
            <a:r>
              <a:rPr lang="en-US" sz="1700"/>
              <a:t>: discrete peaks from electron shell transitions in tungsten atoms.</a:t>
            </a:r>
          </a:p>
          <a:p>
            <a:r>
              <a:rPr lang="en-US" sz="1700"/>
              <a:t>Result → </a:t>
            </a:r>
            <a:r>
              <a:rPr lang="en-US" sz="1700" b="1"/>
              <a:t>Polychromatic X-ray beam</a:t>
            </a:r>
            <a:r>
              <a:rPr lang="en-US" sz="1700"/>
              <a:t>, later filtered to remove very low-energy photons (which would add dose without contributing to image quality).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70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F9B66-82D1-8A34-3D3C-4470276A7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A7BC-D7EF-7F49-BBFD-ACED67675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298174"/>
            <a:ext cx="6451558" cy="791155"/>
          </a:xfrm>
        </p:spPr>
        <p:txBody>
          <a:bodyPr/>
          <a:lstStyle/>
          <a:p>
            <a:r>
              <a:rPr lang="en-US"/>
              <a:t>Basics Of X-Ray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8454F-C3F2-254B-3BCE-378E03826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04330" y="1311966"/>
            <a:ext cx="6284581" cy="5049077"/>
          </a:xfrm>
        </p:spPr>
        <p:txBody>
          <a:bodyPr>
            <a:normAutofit/>
          </a:bodyPr>
          <a:lstStyle/>
          <a:p>
            <a:r>
              <a:rPr lang="en-US" sz="2400"/>
              <a:t>X-ray Interactions with Matter</a:t>
            </a:r>
          </a:p>
          <a:p>
            <a:r>
              <a:rPr lang="en-US" sz="1700"/>
              <a:t>When X-rays pass through tissue, photons are either absorbed, scattered, or transmitted.</a:t>
            </a:r>
          </a:p>
          <a:p>
            <a:pPr lvl="1"/>
            <a:r>
              <a:rPr lang="en-US" sz="1700" b="1"/>
              <a:t>Photoelectric Effect</a:t>
            </a:r>
          </a:p>
          <a:p>
            <a:pPr lvl="1"/>
            <a:r>
              <a:rPr lang="en-US" sz="1700" b="1"/>
              <a:t>Compton Scattering</a:t>
            </a:r>
          </a:p>
          <a:p>
            <a:pPr lvl="1"/>
            <a:r>
              <a:rPr lang="en-US" sz="1700" b="1"/>
              <a:t>Coherent (Rayleigh) Scattering</a:t>
            </a:r>
            <a:r>
              <a:rPr lang="en-US" sz="1700"/>
              <a:t> </a:t>
            </a:r>
          </a:p>
          <a:p>
            <a:endParaRPr lang="en-US" sz="1700"/>
          </a:p>
          <a:p>
            <a:r>
              <a:rPr lang="en-US" sz="2400"/>
              <a:t>Attenuation Law</a:t>
            </a:r>
          </a:p>
          <a:p>
            <a:endParaRPr lang="en-US" sz="2400"/>
          </a:p>
          <a:p>
            <a:r>
              <a:rPr lang="en-US" sz="1700" i="1"/>
              <a:t>I</a:t>
            </a:r>
            <a:r>
              <a:rPr lang="en-US" sz="1700" i="1" baseline="-25000"/>
              <a:t>0</a:t>
            </a:r>
            <a:r>
              <a:rPr lang="en-US" sz="1700" baseline="-25000"/>
              <a:t> </a:t>
            </a:r>
            <a:r>
              <a:rPr lang="en-US" sz="1700"/>
              <a:t> = Incident Intensity</a:t>
            </a:r>
          </a:p>
          <a:p>
            <a:r>
              <a:rPr lang="en-US" sz="1700" i="1"/>
              <a:t>µ = </a:t>
            </a:r>
            <a:r>
              <a:rPr lang="en-US" sz="1700"/>
              <a:t>linear attenuation coefficient</a:t>
            </a:r>
          </a:p>
          <a:p>
            <a:r>
              <a:rPr lang="en-US" sz="1700" i="1"/>
              <a:t>X = </a:t>
            </a:r>
            <a:r>
              <a:rPr lang="en-US" sz="1700"/>
              <a:t>thickness of material</a:t>
            </a:r>
            <a:r>
              <a:rPr lang="en-US" sz="1700" i="1" baseline="30000"/>
              <a:t>	</a:t>
            </a:r>
            <a:r>
              <a:rPr lang="en-US" sz="2000" i="1" baseline="30000"/>
              <a:t>		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C81E12-D0F7-969A-BAF8-0A884FFCF5E7}"/>
              </a:ext>
            </a:extLst>
          </p:cNvPr>
          <p:cNvSpPr txBox="1"/>
          <p:nvPr/>
        </p:nvSpPr>
        <p:spPr>
          <a:xfrm>
            <a:off x="4373219" y="3836504"/>
            <a:ext cx="930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I = I</a:t>
            </a:r>
            <a:r>
              <a:rPr lang="en-US" i="1" baseline="-25000"/>
              <a:t>0</a:t>
            </a:r>
            <a:r>
              <a:rPr lang="en-US" i="1"/>
              <a:t>e</a:t>
            </a:r>
            <a:r>
              <a:rPr lang="en-US" i="1" baseline="30000"/>
              <a:t>-µx</a:t>
            </a:r>
          </a:p>
          <a:p>
            <a:endParaRPr 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2796D8EE-4427-42F8-3680-9DB9B61FA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5666" y="1668946"/>
            <a:ext cx="3930552" cy="304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414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D3D9-07DD-5C4D-48D5-CC8D87B71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58FB1-D431-7D4B-70E6-C5EE1437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298174"/>
            <a:ext cx="6451558" cy="791155"/>
          </a:xfrm>
        </p:spPr>
        <p:txBody>
          <a:bodyPr/>
          <a:lstStyle/>
          <a:p>
            <a:r>
              <a:rPr lang="en-US"/>
              <a:t>Disadvantage Of X-Ray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1C945-3A0F-F0F8-43E3-4618F1811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04330" y="1311967"/>
            <a:ext cx="4503489" cy="405516"/>
          </a:xfrm>
        </p:spPr>
        <p:txBody>
          <a:bodyPr>
            <a:normAutofit/>
          </a:bodyPr>
          <a:lstStyle/>
          <a:p>
            <a:r>
              <a:rPr lang="en-US" sz="2000"/>
              <a:t>Superposition of Structures</a:t>
            </a:r>
            <a:endParaRPr lang="en-US" sz="2000" i="1" baseline="30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440D89-6993-B9AD-D425-E267B7F1E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85" y="2621481"/>
            <a:ext cx="3272865" cy="29594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C01C55-031E-E8B3-9B29-5DEFF2C24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728" y="2617921"/>
            <a:ext cx="3138181" cy="29629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86CED5-A55E-074D-9A56-8E806C5EE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614" y="1514725"/>
            <a:ext cx="3601714" cy="406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76B52-0A69-39E7-EB9F-A6E3FF06A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E2B6B-213D-9F25-D1F6-4D97A44B0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298174"/>
            <a:ext cx="4121827" cy="791155"/>
          </a:xfrm>
        </p:spPr>
        <p:txBody>
          <a:bodyPr/>
          <a:lstStyle/>
          <a:p>
            <a:r>
              <a:rPr lang="en-US"/>
              <a:t>Introduction to CT 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62D42-BC5B-1C23-341E-F9663021B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1450" y="2226367"/>
            <a:ext cx="5743893" cy="211703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/>
              <a:t>CT scan combines</a:t>
            </a:r>
            <a:r>
              <a:rPr lang="en-US" sz="1700" b="1" dirty="0"/>
              <a:t> X-rays and computer-based reconstruction</a:t>
            </a:r>
            <a:r>
              <a:rPr lang="en-US" sz="1700" dirty="0"/>
              <a:t> to generate </a:t>
            </a:r>
            <a:r>
              <a:rPr lang="en-US" sz="1700" b="1" dirty="0"/>
              <a:t>cross-sectional images</a:t>
            </a:r>
            <a:r>
              <a:rPr lang="en-US" sz="1700" dirty="0"/>
              <a:t> of the body.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/>
              <a:t>Using mathematical reconstruction, CT produces a 3D map of tissue attenuation coefficients.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/>
              <a:t>CT provides </a:t>
            </a:r>
            <a:r>
              <a:rPr lang="en-US" sz="1700" b="1" dirty="0"/>
              <a:t>high-resolution anatomical detail</a:t>
            </a:r>
            <a:r>
              <a:rPr lang="en-US" sz="1700" dirty="0"/>
              <a:t>, excellent </a:t>
            </a:r>
            <a:r>
              <a:rPr lang="en-US" sz="1700" b="1" dirty="0"/>
              <a:t>soft tissue contrast</a:t>
            </a:r>
            <a:r>
              <a:rPr lang="en-US" sz="1700" dirty="0"/>
              <a:t>, and the ability to reconstruct images in multiple planes or 3D volumes.</a:t>
            </a:r>
            <a:endParaRPr lang="en-US" sz="1700" i="1" baseline="30000" dirty="0"/>
          </a:p>
        </p:txBody>
      </p:sp>
      <p:pic>
        <p:nvPicPr>
          <p:cNvPr id="2050" name="Picture 2" descr="Single Source CT Scanner - Siemens Healthineers India">
            <a:extLst>
              <a:ext uri="{FF2B5EF4-FFF2-40B4-BE49-F238E27FC236}">
                <a16:creationId xmlns:a16="http://schemas.microsoft.com/office/drawing/2014/main" id="{EAD43993-B3BB-A06C-9496-C87B03273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765" y="1706407"/>
            <a:ext cx="3515992" cy="2636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392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CECF3-AEFD-9579-9388-58C308662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56537101-72CB-91FD-8B88-7D61571BD86B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t="12822" r="57313" b="14002"/>
          <a:stretch/>
        </p:blipFill>
        <p:spPr>
          <a:xfrm>
            <a:off x="5031188" y="2125064"/>
            <a:ext cx="2752825" cy="2610853"/>
          </a:xfrm>
          <a:prstGeom prst="rect">
            <a:avLst/>
          </a:prstGeom>
        </p:spPr>
      </p:pic>
      <p:pic>
        <p:nvPicPr>
          <p:cNvPr id="2052" name="Picture 4" descr="Plain and contrast CT scan of head showing ill‐defined large soft... |  Download Scientific Diagram">
            <a:extLst>
              <a:ext uri="{FF2B5EF4-FFF2-40B4-BE49-F238E27FC236}">
                <a16:creationId xmlns:a16="http://schemas.microsoft.com/office/drawing/2014/main" id="{50518245-635A-B375-9090-F9930058B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1" y="2173909"/>
            <a:ext cx="2195051" cy="261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Skull x-ray">
            <a:extLst>
              <a:ext uri="{FF2B5EF4-FFF2-40B4-BE49-F238E27FC236}">
                <a16:creationId xmlns:a16="http://schemas.microsoft.com/office/drawing/2014/main" id="{84CB50F2-6D47-0EAD-8AC2-B14833232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31" y="2215100"/>
            <a:ext cx="3192583" cy="25254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0BF30A-D774-3B08-4937-F010AF28E27B}"/>
              </a:ext>
            </a:extLst>
          </p:cNvPr>
          <p:cNvSpPr txBox="1"/>
          <p:nvPr/>
        </p:nvSpPr>
        <p:spPr>
          <a:xfrm>
            <a:off x="714375" y="373062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X-ray vs CT Scan</a:t>
            </a:r>
          </a:p>
        </p:txBody>
      </p:sp>
    </p:spTree>
    <p:extLst>
      <p:ext uri="{BB962C8B-B14F-4D97-AF65-F5344CB8AC3E}">
        <p14:creationId xmlns:p14="http://schemas.microsoft.com/office/powerpoint/2010/main" val="259989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5EE68-F957-197F-6AFE-A6AAD5FF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8E5C-5101-CB47-BE89-5E8FAB8C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298174"/>
            <a:ext cx="4090022" cy="791155"/>
          </a:xfrm>
        </p:spPr>
        <p:txBody>
          <a:bodyPr/>
          <a:lstStyle/>
          <a:p>
            <a:r>
              <a:rPr lang="en-US" dirty="0"/>
              <a:t>CT challenge?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B4AB7-6CD2-4EF3-CBF5-0FB612D05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7" y="1765605"/>
            <a:ext cx="4230234" cy="29927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002B11-A492-BCD1-6AA3-D852193D80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573" b="16287"/>
          <a:stretch>
            <a:fillRect/>
          </a:stretch>
        </p:blipFill>
        <p:spPr>
          <a:xfrm>
            <a:off x="5891405" y="1980529"/>
            <a:ext cx="5638893" cy="255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8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36394-2B9D-8AFC-EE49-46C06893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49" y="115277"/>
            <a:ext cx="3131161" cy="662354"/>
          </a:xfrm>
        </p:spPr>
        <p:txBody>
          <a:bodyPr>
            <a:normAutofit/>
          </a:bodyPr>
          <a:lstStyle/>
          <a:p>
            <a:r>
              <a:rPr lang="en-US" dirty="0"/>
              <a:t>Radon Transform</a:t>
            </a:r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52EA8C3-058C-1EC2-4ADC-6D4E86501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91" y="1594949"/>
            <a:ext cx="6527311" cy="10304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FDC442-7035-B45D-3E7B-1AC168913CFD}"/>
              </a:ext>
            </a:extLst>
          </p:cNvPr>
          <p:cNvSpPr txBox="1"/>
          <p:nvPr/>
        </p:nvSpPr>
        <p:spPr>
          <a:xfrm>
            <a:off x="688730" y="3432053"/>
            <a:ext cx="905412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i="1" dirty="0">
                <a:ea typeface="+mn-lt"/>
                <a:cs typeface="+mn-lt"/>
              </a:rPr>
              <a:t>f(</a:t>
            </a:r>
            <a:r>
              <a:rPr lang="en-US" i="1" dirty="0" err="1">
                <a:ea typeface="+mn-lt"/>
                <a:cs typeface="+mn-lt"/>
              </a:rPr>
              <a:t>x,y</a:t>
            </a:r>
            <a:r>
              <a:rPr lang="en-US" i="1" dirty="0">
                <a:ea typeface="+mn-lt"/>
                <a:cs typeface="+mn-lt"/>
              </a:rPr>
              <a:t>)</a:t>
            </a:r>
            <a:r>
              <a:rPr lang="en-US" dirty="0">
                <a:ea typeface="+mn-lt"/>
                <a:cs typeface="+mn-lt"/>
              </a:rPr>
              <a:t> → the 2D object(image function)</a:t>
            </a:r>
          </a:p>
          <a:p>
            <a:pPr marL="342900" indent="-342900">
              <a:buAutoNum type="arabicPeriod"/>
            </a:pPr>
            <a:r>
              <a:rPr lang="en-US" i="1" dirty="0">
                <a:ea typeface="+mn-lt"/>
                <a:cs typeface="+mn-lt"/>
              </a:rPr>
              <a:t>L</a:t>
            </a:r>
            <a:r>
              <a:rPr lang="en-US" dirty="0">
                <a:ea typeface="+mn-lt"/>
                <a:cs typeface="+mn-lt"/>
              </a:rPr>
              <a:t> → a line at angle θ and distance ρ from the origin,</a:t>
            </a:r>
          </a:p>
          <a:p>
            <a:pPr marL="342900" indent="-342900">
              <a:buAutoNum type="arabicPeriod"/>
            </a:pPr>
            <a:r>
              <a:rPr lang="en-US" i="1" dirty="0">
                <a:ea typeface="+mn-lt"/>
                <a:cs typeface="+mn-lt"/>
              </a:rPr>
              <a:t>ds</a:t>
            </a:r>
            <a:r>
              <a:rPr lang="en-US" dirty="0">
                <a:ea typeface="+mn-lt"/>
                <a:cs typeface="+mn-lt"/>
              </a:rPr>
              <a:t> → infinitesimal element along the line,</a:t>
            </a:r>
          </a:p>
          <a:p>
            <a:pPr marL="342900" indent="-342900">
              <a:buAutoNum type="arabicPeriod"/>
            </a:pPr>
            <a:r>
              <a:rPr lang="en-US" i="1" dirty="0">
                <a:ea typeface="+mn-lt"/>
                <a:cs typeface="+mn-lt"/>
              </a:rPr>
              <a:t>R{f}</a:t>
            </a:r>
            <a:r>
              <a:rPr lang="en-US" dirty="0">
                <a:ea typeface="+mn-lt"/>
                <a:cs typeface="+mn-lt"/>
              </a:rPr>
              <a:t> → Radon transform operator.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0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4887A-99AD-1C07-8EF5-105090CAF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F2F30-578D-D21A-9291-282B72FEB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298174"/>
            <a:ext cx="4090022" cy="791155"/>
          </a:xfrm>
        </p:spPr>
        <p:txBody>
          <a:bodyPr/>
          <a:lstStyle/>
          <a:p>
            <a:r>
              <a:rPr lang="en-US" dirty="0"/>
              <a:t>Radon transform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A000BB-74FA-5ED5-4A6B-5F80C107A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598" y="1339014"/>
            <a:ext cx="5209721" cy="21657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5BFA01-6D75-C84F-22BE-75401450AA6E}"/>
              </a:ext>
            </a:extLst>
          </p:cNvPr>
          <p:cNvSpPr txBox="1"/>
          <p:nvPr/>
        </p:nvSpPr>
        <p:spPr>
          <a:xfrm>
            <a:off x="979365" y="4002941"/>
            <a:ext cx="9532814" cy="175432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R(</a:t>
            </a:r>
            <a:r>
              <a:rPr lang="en-US" err="1">
                <a:ea typeface="+mn-lt"/>
                <a:cs typeface="+mn-lt"/>
              </a:rPr>
              <a:t>θ,s</a:t>
            </a:r>
            <a:r>
              <a:rPr lang="en-US">
                <a:ea typeface="+mn-lt"/>
                <a:cs typeface="+mn-lt"/>
              </a:rPr>
              <a:t>) is an integral transform.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Its inverse is not a simple algebraic operation (like a matrix inverse) but involves solving an integral equation.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Writing down and computing the inverse Radon directly is messy, numerically unstable, and not practical for large images.</a:t>
            </a:r>
            <a:endParaRPr lang="en-US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859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0F4E-C86E-FEDB-9998-5FF5F3A1C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6ADD-820E-A5BF-DFCD-8252902F0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298174"/>
            <a:ext cx="7694868" cy="791155"/>
          </a:xfrm>
        </p:spPr>
        <p:txBody>
          <a:bodyPr>
            <a:normAutofit/>
          </a:bodyPr>
          <a:lstStyle/>
          <a:p>
            <a:r>
              <a:rPr lang="en-US" dirty="0"/>
              <a:t>Fourier Slice Theorem and Use of it in CT Scan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1D5B73-32A2-8DE1-6AA9-90699D210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309" y="2497085"/>
            <a:ext cx="5204557" cy="24155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7B024C-230C-3649-ABDB-B13486D61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720" y="1631096"/>
            <a:ext cx="4067175" cy="352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F576E1-875A-8B2A-11EB-F352F3BF92D0}"/>
              </a:ext>
            </a:extLst>
          </p:cNvPr>
          <p:cNvSpPr txBox="1"/>
          <p:nvPr/>
        </p:nvSpPr>
        <p:spPr>
          <a:xfrm>
            <a:off x="1295400" y="2604477"/>
            <a:ext cx="4355123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/>
              <a:t>The </a:t>
            </a:r>
            <a:r>
              <a:rPr lang="en-US" b="1" dirty="0"/>
              <a:t>1D Fourier transform</a:t>
            </a:r>
            <a:r>
              <a:rPr lang="en-US" dirty="0"/>
              <a:t> of the projection at angle θ\</a:t>
            </a:r>
            <a:r>
              <a:rPr lang="en-US" dirty="0" err="1"/>
              <a:t>thetaθ</a:t>
            </a:r>
            <a:r>
              <a:rPr lang="en-US" dirty="0"/>
              <a:t> is exactly the </a:t>
            </a:r>
            <a:r>
              <a:rPr lang="en-US" b="1" dirty="0"/>
              <a:t>2D Fourier transform</a:t>
            </a:r>
            <a:r>
              <a:rPr lang="en-US" dirty="0"/>
              <a:t> of the image f(</a:t>
            </a:r>
            <a:r>
              <a:rPr lang="en-US" dirty="0" err="1"/>
              <a:t>x,y</a:t>
            </a:r>
            <a:r>
              <a:rPr lang="en-US" dirty="0"/>
              <a:t>)f(</a:t>
            </a:r>
            <a:r>
              <a:rPr lang="en-US" dirty="0" err="1"/>
              <a:t>x,y</a:t>
            </a:r>
            <a:r>
              <a:rPr lang="en-US" dirty="0"/>
              <a:t>)f(</a:t>
            </a:r>
            <a:r>
              <a:rPr lang="en-US" dirty="0" err="1"/>
              <a:t>x,y</a:t>
            </a:r>
            <a:r>
              <a:rPr lang="en-US" dirty="0"/>
              <a:t>) along a radial line in frequency space.</a:t>
            </a: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/>
              <a:t>So, by collecting many projections at many angles, you can fill out the 2D Fourier space of the image.</a:t>
            </a:r>
          </a:p>
        </p:txBody>
      </p:sp>
    </p:spTree>
    <p:extLst>
      <p:ext uri="{BB962C8B-B14F-4D97-AF65-F5344CB8AC3E}">
        <p14:creationId xmlns:p14="http://schemas.microsoft.com/office/powerpoint/2010/main" val="3511806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B8DDB-DAC2-31B7-313E-85D8E060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E214D-8B87-9241-2161-A39BD4734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298174"/>
            <a:ext cx="7694868" cy="791155"/>
          </a:xfrm>
        </p:spPr>
        <p:txBody>
          <a:bodyPr>
            <a:normAutofit/>
          </a:bodyPr>
          <a:lstStyle/>
          <a:p>
            <a:r>
              <a:rPr lang="en-US" dirty="0"/>
              <a:t>Units Used in CT Scan</a:t>
            </a:r>
          </a:p>
        </p:txBody>
      </p:sp>
      <p:pic>
        <p:nvPicPr>
          <p:cNvPr id="3" name="Picture 2" descr="A diagram of a person&amp;#39;s face&#10;&#10;AI-generated content may be incorrect.">
            <a:extLst>
              <a:ext uri="{FF2B5EF4-FFF2-40B4-BE49-F238E27FC236}">
                <a16:creationId xmlns:a16="http://schemas.microsoft.com/office/drawing/2014/main" id="{C1405F7B-08C8-1894-57EC-878B109A4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583714"/>
            <a:ext cx="861060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68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FA7D3-6C6B-9714-ABE1-8F565045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B0A7B-9E83-3E78-B0DD-49331138E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298174"/>
            <a:ext cx="6786329" cy="791155"/>
          </a:xfrm>
        </p:spPr>
        <p:txBody>
          <a:bodyPr>
            <a:normAutofit/>
          </a:bodyPr>
          <a:lstStyle/>
          <a:p>
            <a:r>
              <a:rPr lang="en-US" dirty="0" err="1"/>
              <a:t>Reconstuction</a:t>
            </a:r>
            <a:r>
              <a:rPr lang="en-US" dirty="0"/>
              <a:t> of Images in CT Scan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5C3DDC-FD88-7659-65DA-206449796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836" y="1209365"/>
            <a:ext cx="8440328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334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5DD58-B228-1423-0BA0-8941AAF1C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21886-1B93-95F7-2508-B9AD4E3A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563" y="2637845"/>
            <a:ext cx="2555419" cy="791155"/>
          </a:xfrm>
        </p:spPr>
        <p:txBody>
          <a:bodyPr>
            <a:noAutofit/>
          </a:bodyPr>
          <a:lstStyle/>
          <a:p>
            <a:r>
              <a:rPr lang="en-US" sz="45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09628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Computed Tomography (CT) scan</vt:lpstr>
      <vt:lpstr>Radiology</vt:lpstr>
      <vt:lpstr>Basics Of X-Ray</vt:lpstr>
      <vt:lpstr>Basics Of X-Ray </vt:lpstr>
      <vt:lpstr>Disadvantage Of X-Ray</vt:lpstr>
      <vt:lpstr>Introduction to CT Scan</vt:lpstr>
      <vt:lpstr>PowerPoint Presentation</vt:lpstr>
      <vt:lpstr>CT challenge?</vt:lpstr>
      <vt:lpstr>Radon Transform</vt:lpstr>
      <vt:lpstr>Radon transform</vt:lpstr>
      <vt:lpstr>Fourier Slice Theorem and Use of it in CT Scan</vt:lpstr>
      <vt:lpstr>Units Used in CT Scan</vt:lpstr>
      <vt:lpstr>Reconstuction of Images in CT Scan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Savithru Karthikeyan</dc:creator>
  <cp:revision>125</cp:revision>
  <dcterms:created xsi:type="dcterms:W3CDTF">2025-09-01T18:15:19Z</dcterms:created>
  <dcterms:modified xsi:type="dcterms:W3CDTF">2025-12-09T16:42:55Z</dcterms:modified>
</cp:coreProperties>
</file>